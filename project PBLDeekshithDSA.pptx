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3.xml" ContentType="application/vnd.openxmlformats-officedocument.presentationml.slide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6" d="100"/>
          <a:sy n="66" d="100"/>
        </p:scale>
        <p:origin x="492" y="3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5499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578364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5A854B6-73EE-3647-B9F0-9FDDAF047BDA}" type="datetimeFigureOut">
              <a:rPr lang="en-US"/>
              <a:t/>
            </a:fld>
            <a:endParaRPr lang="en-US"/>
          </a:p>
        </p:txBody>
      </p:sp>
      <p:sp>
        <p:nvSpPr>
          <p:cNvPr id="99489535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6394562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9064753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93850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329816-4D5E-3B44-810B-F5C416F14AE8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A78361-8E17-CDAB-31A8-FFB0139C21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CD0B70-A53B-2EC9-DDBF-29877FF01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C8966-DFDF-A361-F5CA-99A7CC591D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8AD42D-EED3-4347-9CBF-6D03E791F8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7804AC-F771-EA6B-009F-A94C904F9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49B26-3B41-DA3B-A017-5D0EED0EBD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48B29-CA00-4F61-4EA4-505BC5A462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CA315B-4AF7-358A-D803-1EA3814A45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F9ED3-7007-4113-0770-4F09A1012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922173-36AF-F7B1-37F0-98BF9E1212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5C4A11-EAF0-4488-5743-C819FE7972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D96BEE-088D-D7DF-A615-08D2915525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766054-B66C-1324-B63B-EB49F3FDA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63ADA-7E43-6D4F-CC8E-7ACE29D023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F343A2-FB24-BBFA-7C6A-50F4E73314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76705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3583886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799081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BF734CB-DFAB-944A-8037-9643745D8F20}" type="datetime1">
              <a:rPr lang="en-IN"/>
              <a:t/>
            </a:fld>
            <a:endParaRPr lang="en-US"/>
          </a:p>
        </p:txBody>
      </p:sp>
      <p:sp>
        <p:nvSpPr>
          <p:cNvPr id="13670163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3042630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3182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460010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01223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5272DB-0103-AF4C-A22D-07421EC406AD}" type="datetime1">
              <a:rPr lang="en-IN"/>
              <a:t/>
            </a:fld>
            <a:endParaRPr lang="en-US"/>
          </a:p>
        </p:txBody>
      </p:sp>
      <p:sp>
        <p:nvSpPr>
          <p:cNvPr id="1600541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338966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  <p:sp>
        <p:nvSpPr>
          <p:cNvPr id="1815408956" name="Rectangle 7"/>
          <p:cNvSpPr/>
          <p:nvPr userDrawn="1"/>
        </p:nvSpPr>
        <p:spPr bwMode="auto">
          <a:xfrm>
            <a:off x="87228" y="60325"/>
            <a:ext cx="1532022" cy="620712"/>
          </a:xfrm>
          <a:prstGeom prst="rect">
            <a:avLst/>
          </a:prstGeom>
          <a:blipFill rotWithShape="1">
            <a:blip r:embed="rId2">
              <a:alphaModFix amt="78101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5328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723277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7951290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918335F-2E5B-B14E-9706-E237C81E4155}" type="datetime1">
              <a:rPr lang="en-IN"/>
              <a:t/>
            </a:fld>
            <a:endParaRPr lang="en-US"/>
          </a:p>
        </p:txBody>
      </p:sp>
      <p:sp>
        <p:nvSpPr>
          <p:cNvPr id="15968465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78162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2044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6924670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3866893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2504120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BD6649-7156-A341-B9F2-F045B7551E13}" type="datetime1">
              <a:rPr lang="en-IN"/>
              <a:t/>
            </a:fld>
            <a:endParaRPr lang="en-US"/>
          </a:p>
        </p:txBody>
      </p:sp>
      <p:sp>
        <p:nvSpPr>
          <p:cNvPr id="896376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3722079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51384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955712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6735581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2695368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37914153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1355568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977CD1-E97C-BA41-8E49-9F39B98FFBE8}" type="datetime1">
              <a:rPr lang="en-IN"/>
              <a:t/>
            </a:fld>
            <a:endParaRPr lang="en-US"/>
          </a:p>
        </p:txBody>
      </p:sp>
      <p:sp>
        <p:nvSpPr>
          <p:cNvPr id="3611577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5415913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611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3625581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3DDBCA1-9406-7A44-8A76-1046B4040777}" type="datetime1">
              <a:rPr lang="en-IN"/>
              <a:t/>
            </a:fld>
            <a:endParaRPr lang="en-US"/>
          </a:p>
        </p:txBody>
      </p:sp>
      <p:sp>
        <p:nvSpPr>
          <p:cNvPr id="5827719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8288641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33131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B085D-B69B-9C45-93A5-77F47F2F6792}" type="datetime1">
              <a:rPr lang="en-IN"/>
              <a:t/>
            </a:fld>
            <a:endParaRPr lang="en-US"/>
          </a:p>
        </p:txBody>
      </p:sp>
      <p:sp>
        <p:nvSpPr>
          <p:cNvPr id="18548120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20879718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81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6653374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6767014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9349653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61B69B7-E8EF-6346-9390-671C5B22ACF3}" type="datetime1">
              <a:rPr lang="en-IN"/>
              <a:t/>
            </a:fld>
            <a:endParaRPr lang="en-US"/>
          </a:p>
        </p:txBody>
      </p:sp>
      <p:sp>
        <p:nvSpPr>
          <p:cNvPr id="14976060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0988298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21521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145953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059767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9083749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20709D-BF3C-5743-B60D-B01C16014A7B}" type="datetime1">
              <a:rPr lang="en-IN"/>
              <a:t/>
            </a:fld>
            <a:endParaRPr lang="en-US"/>
          </a:p>
        </p:txBody>
      </p:sp>
      <p:sp>
        <p:nvSpPr>
          <p:cNvPr id="963023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6328792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4411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228053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549211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4444B0-6575-954F-AAA2-CB0D0417F745}" type="datetime1">
              <a:rPr lang="en-IN"/>
              <a:t/>
            </a:fld>
            <a:endParaRPr lang="en-US"/>
          </a:p>
        </p:txBody>
      </p:sp>
      <p:sp>
        <p:nvSpPr>
          <p:cNvPr id="1206579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1926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5820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048928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6797283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E7A436-9AA5-6C4B-AFF1-C34F60A9AB89}" type="datetime1">
              <a:rPr lang="en-IN"/>
              <a:t/>
            </a:fld>
            <a:endParaRPr lang="en-US"/>
          </a:p>
        </p:txBody>
      </p:sp>
      <p:sp>
        <p:nvSpPr>
          <p:cNvPr id="9775473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4685906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52570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02189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0540771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F141C7-EF5A-1D4A-89F0-79C7DE818D53}" type="datetime1">
              <a:rPr lang="en-IN"/>
              <a:t/>
            </a:fld>
            <a:endParaRPr lang="en-US"/>
          </a:p>
        </p:txBody>
      </p:sp>
      <p:sp>
        <p:nvSpPr>
          <p:cNvPr id="20810062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4059544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412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763950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26408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C868A0C-C998-984C-ABE3-A33473D7CABD}" type="datetime1">
              <a:rPr lang="en-IN"/>
              <a:t/>
            </a:fld>
            <a:endParaRPr lang="en-US"/>
          </a:p>
        </p:txBody>
      </p:sp>
      <p:sp>
        <p:nvSpPr>
          <p:cNvPr id="15075217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230188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00802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714199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777834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DD2EF84-6667-8447-AC88-082F9D71D82C}" type="datetime1">
              <a:rPr lang="en-IN"/>
              <a:t/>
            </a:fld>
            <a:endParaRPr lang="en-US"/>
          </a:p>
        </p:txBody>
      </p:sp>
      <p:sp>
        <p:nvSpPr>
          <p:cNvPr id="1647272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442087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003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385390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6431787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242539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1563FD6-5C64-304A-9680-469E8D83D1BF}" type="datetime1">
              <a:rPr lang="en-IN"/>
              <a:t/>
            </a:fld>
            <a:endParaRPr lang="en-US"/>
          </a:p>
        </p:txBody>
      </p:sp>
      <p:sp>
        <p:nvSpPr>
          <p:cNvPr id="805960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16333570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4284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522585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1492432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375864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189655650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98144377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93985EC-8C41-0649-B43C-28421C497AA5}" type="datetime1">
              <a:rPr lang="en-IN"/>
              <a:t/>
            </a:fld>
            <a:endParaRPr lang="en-US"/>
          </a:p>
        </p:txBody>
      </p:sp>
      <p:sp>
        <p:nvSpPr>
          <p:cNvPr id="9889976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88910661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71834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591124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330950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85D85A-3465-384D-962A-D11BB8B39525}" type="datetime1">
              <a:rPr lang="en-IN"/>
              <a:t/>
            </a:fld>
            <a:endParaRPr lang="en-US"/>
          </a:p>
        </p:txBody>
      </p:sp>
      <p:sp>
        <p:nvSpPr>
          <p:cNvPr id="92912780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20054304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4127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449447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 lang="en-GB"/>
          </a:p>
          <a:p>
            <a:pPr lvl="1">
              <a:defRPr/>
            </a:pPr>
            <a:r>
              <a:rPr lang="en-GB"/>
              <a:t>Second level</a:t>
            </a:r>
            <a:endParaRPr lang="en-GB"/>
          </a:p>
          <a:p>
            <a:pPr lvl="2">
              <a:defRPr/>
            </a:pPr>
            <a:r>
              <a:rPr lang="en-GB"/>
              <a:t>Third level</a:t>
            </a:r>
            <a:endParaRPr lang="en-GB"/>
          </a:p>
          <a:p>
            <a:pPr lvl="3">
              <a:defRPr/>
            </a:pPr>
            <a:r>
              <a:rPr lang="en-GB"/>
              <a:t>Fourth level</a:t>
            </a:r>
            <a:endParaRPr lang="en-GB"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3813512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9F4C6E9-161C-B44B-AD70-8813DADCDED1}" type="datetime1">
              <a:rPr lang="en-IN"/>
              <a:t/>
            </a:fld>
            <a:endParaRPr lang="en-US"/>
          </a:p>
        </p:txBody>
      </p:sp>
      <p:sp>
        <p:nvSpPr>
          <p:cNvPr id="4340490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0694359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396F81-1074-6B40-A92F-A06CCD3B4178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1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37215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INSTRUCTIONS</a:t>
            </a:r>
            <a:endParaRPr lang="en-US" b="1"/>
          </a:p>
        </p:txBody>
      </p:sp>
      <p:sp>
        <p:nvSpPr>
          <p:cNvPr id="694177842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IN"/>
              <a:t>Use </a:t>
            </a:r>
            <a:r>
              <a:rPr lang="en-IN"/>
              <a:t>Font size 22 to 28 and Font Style </a:t>
            </a:r>
            <a:r>
              <a:rPr lang="en-IN" b="0" i="0">
                <a:solidFill>
                  <a:srgbClr val="0A0A0A"/>
                </a:solidFill>
                <a:latin typeface="Google Sans"/>
              </a:rPr>
              <a:t>Times New Roman </a:t>
            </a:r>
            <a:r>
              <a:rPr lang="en-IN"/>
              <a:t>(body)</a:t>
            </a:r>
            <a:endParaRPr lang="en-IN"/>
          </a:p>
          <a:p>
            <a:pPr>
              <a:defRPr/>
            </a:pPr>
            <a:r>
              <a:rPr lang="en-IN"/>
              <a:t>Do not change the Template: Heading / Title of the slides</a:t>
            </a:r>
            <a:endParaRPr lang="en-IN"/>
          </a:p>
          <a:p>
            <a:pPr>
              <a:defRPr/>
            </a:pPr>
            <a:r>
              <a:rPr lang="en-IN"/>
              <a:t>Do not change font style or colours</a:t>
            </a:r>
            <a:endParaRPr lang="en-IN"/>
          </a:p>
          <a:p>
            <a:pPr>
              <a:defRPr/>
            </a:pPr>
            <a:r>
              <a:rPr lang="en-IN"/>
              <a:t>Do not copy paste paragraphs: use only Bullet Points</a:t>
            </a:r>
            <a:endParaRPr lang="en-IN"/>
          </a:p>
          <a:p>
            <a:pPr>
              <a:defRPr/>
            </a:pPr>
            <a:r>
              <a:rPr lang="en-IN"/>
              <a:t>Maximum slide Limit is 20 only</a:t>
            </a:r>
            <a:endParaRPr lang="en-IN"/>
          </a:p>
          <a:p>
            <a:pPr>
              <a:defRPr/>
            </a:pPr>
            <a:r>
              <a:rPr lang="en-IN"/>
              <a:t>As per the number of supervisor allotted adopt slide-2 or slide-3</a:t>
            </a:r>
            <a:endParaRPr lang="en-IN"/>
          </a:p>
          <a:p>
            <a:pPr>
              <a:defRPr/>
            </a:pPr>
            <a:r>
              <a:rPr lang="en-IN"/>
              <a:t>Please display the required meaningful Content or images or tables </a:t>
            </a:r>
            <a:endParaRPr lang="en-IN"/>
          </a:p>
          <a:p>
            <a:pPr>
              <a:defRPr/>
            </a:pPr>
            <a:r>
              <a:rPr lang="en-IN"/>
              <a:t>Change the footer accordingly using insert tab then click on header &amp; footer tab and edit it</a:t>
            </a:r>
            <a:endParaRPr lang="en-IN"/>
          </a:p>
          <a:p>
            <a:pPr>
              <a:defRPr/>
            </a:pPr>
            <a:r>
              <a:rPr lang="en-IN"/>
              <a:t>Save the PPT with Register No, Dept and Review no,  example: </a:t>
            </a:r>
            <a:r>
              <a:rPr lang="en-US"/>
              <a:t>23xxxxxxxxx_CSE</a:t>
            </a:r>
            <a:endParaRPr lang="en-IN"/>
          </a:p>
        </p:txBody>
      </p:sp>
      <p:sp>
        <p:nvSpPr>
          <p:cNvPr id="2435558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DE338F-74DD-D142-8C58-9E4C5E66F6E8}" type="datetime1">
              <a:rPr lang="en-IN"/>
              <a:t/>
            </a:fld>
            <a:endParaRPr lang="en-US"/>
          </a:p>
        </p:txBody>
      </p:sp>
      <p:sp>
        <p:nvSpPr>
          <p:cNvPr id="16162200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3645284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809529" name="Title 1"/>
          <p:cNvSpPr>
            <a:spLocks noGrp="1"/>
          </p:cNvSpPr>
          <p:nvPr>
            <p:ph type="title"/>
          </p:nvPr>
        </p:nvSpPr>
        <p:spPr bwMode="auto"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0070C0"/>
                </a:solidFill>
                <a:latin typeface="+mn-lt"/>
                <a:cs typeface="Arial"/>
              </a:rPr>
              <a:t>Title: Pharma Inventry Billing System</a:t>
            </a:r>
            <a:endParaRPr lang="en-US" sz="240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5221646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149495"/>
            <a:ext cx="10515600" cy="10975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/>
          <a:p>
            <a:pPr marL="0" indent="0" algn="ctr">
              <a:buNone/>
              <a:defRPr/>
            </a:pPr>
            <a:r>
              <a:rPr lang="en-US" sz="9600"/>
              <a:t>Student Name: K.Deekshith</a:t>
            </a:r>
            <a:endParaRPr lang="en-US" sz="9600"/>
          </a:p>
          <a:p>
            <a:pPr marL="0" indent="0" algn="ctr">
              <a:buNone/>
              <a:defRPr/>
            </a:pPr>
            <a:r>
              <a:rPr lang="en-US" sz="9600"/>
              <a:t>Student ID: 2520040086</a:t>
            </a:r>
            <a:br>
              <a:rPr lang="en-US" sz="9600"/>
            </a:br>
            <a:br>
              <a:rPr lang="en-US" sz="9600"/>
            </a:br>
            <a:r>
              <a:rPr lang="en-US" sz="11200"/>
              <a:t>Cluster:4</a:t>
            </a:r>
            <a:endParaRPr lang="en-US" sz="11200"/>
          </a:p>
          <a:p>
            <a:pPr marL="0" indent="0" algn="ctr">
              <a:buNone/>
              <a:defRPr/>
            </a:pPr>
            <a:r>
              <a:rPr lang="en-US" sz="11200"/>
              <a:t>Section: 14</a:t>
            </a:r>
            <a:endParaRPr lang="en-US" sz="11200"/>
          </a:p>
        </p:txBody>
      </p:sp>
      <p:sp>
        <p:nvSpPr>
          <p:cNvPr id="1689136082" name="Date Placehold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4ABCEED-36AB-D94A-B562-4D3E096B39D1}" type="datetime1">
              <a:rPr lang="en-IN"/>
              <a:t/>
            </a:fld>
            <a:endParaRPr lang="en-US"/>
          </a:p>
        </p:txBody>
      </p:sp>
      <p:pic>
        <p:nvPicPr>
          <p:cNvPr id="657184135" name="Picture 11" descr="A picture containing shape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56361" y="5015918"/>
            <a:ext cx="1725712" cy="930977"/>
          </a:xfrm>
          <a:prstGeom prst="rect">
            <a:avLst/>
          </a:prstGeom>
        </p:spPr>
      </p:pic>
      <p:sp>
        <p:nvSpPr>
          <p:cNvPr id="460008213" name="Content Placeholder 3"/>
          <p:cNvSpPr txBox="1"/>
          <p:nvPr/>
        </p:nvSpPr>
        <p:spPr bwMode="auto"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8600"/>
              <a:t>Under the Guidance </a:t>
            </a:r>
            <a:endParaRPr lang="en-US" sz="8600"/>
          </a:p>
          <a:p>
            <a:pPr marL="0" indent="0" algn="ctr">
              <a:buNone/>
              <a:defRPr/>
            </a:pPr>
            <a:r>
              <a:rPr lang="en-US" sz="8600"/>
              <a:t>of 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  <a:defRPr/>
            </a:pPr>
            <a:r>
              <a:rPr lang="en-US" sz="8600">
                <a:solidFill>
                  <a:srgbClr val="00B050"/>
                </a:solidFill>
              </a:rPr>
              <a:t>Supervisor Name:Dr.Sri Ram Murthy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  <a:defRPr/>
            </a:pPr>
            <a:r>
              <a:rPr lang="en-US" sz="8600">
                <a:solidFill>
                  <a:srgbClr val="00B050"/>
                </a:solidFill>
              </a:rPr>
              <a:t>Assistant Professor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  <a:defRPr/>
            </a:pPr>
            <a:r>
              <a:rPr lang="en-US" sz="8600">
                <a:solidFill>
                  <a:srgbClr val="00B050"/>
                </a:solidFill>
              </a:rPr>
              <a:t>Department of CSE</a:t>
            </a:r>
            <a:endParaRPr lang="en-US" sz="8600">
              <a:solidFill>
                <a:srgbClr val="00B050"/>
              </a:solidFill>
            </a:endParaRPr>
          </a:p>
          <a:p>
            <a:pPr marL="0" indent="0">
              <a:buFont typeface="Arial"/>
              <a:buNone/>
              <a:defRPr/>
            </a:pP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7039295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591080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OUTLINE</a:t>
            </a:r>
            <a:endParaRPr lang="en-US" b="1"/>
          </a:p>
        </p:txBody>
      </p:sp>
      <p:sp>
        <p:nvSpPr>
          <p:cNvPr id="1093649827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Abstract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Existing System 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Proposed System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System Architecture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Project Modules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Objectives 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Co’s Attainments - FWD</a:t>
            </a:r>
            <a:endParaRPr lang="en-IN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IN"/>
              <a:t>Co1</a:t>
            </a:r>
            <a:endParaRPr lang="en-IN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IN"/>
              <a:t>Co2 …….. 5. Co5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Co’s Attainments - DSA</a:t>
            </a:r>
            <a:endParaRPr lang="en-IN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IN"/>
              <a:t>Co1</a:t>
            </a:r>
            <a:endParaRPr lang="en-IN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IN"/>
              <a:t>Co2 …….. 5. Co5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Screen Shots for FWD &amp; DSA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Conclusion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r>
              <a:rPr lang="en-IN"/>
              <a:t>Geo-Tagged Photos</a:t>
            </a:r>
            <a:endParaRPr lang="en-IN"/>
          </a:p>
          <a:p>
            <a:pPr marL="514350" indent="-514350">
              <a:buFont typeface="+mj-lt"/>
              <a:buAutoNum type="arabicPeriod"/>
              <a:defRPr/>
            </a:pPr>
            <a:endParaRPr lang="en-IN"/>
          </a:p>
          <a:p>
            <a:pPr>
              <a:defRPr/>
            </a:pPr>
            <a:endParaRPr lang="en-US"/>
          </a:p>
        </p:txBody>
      </p:sp>
      <p:sp>
        <p:nvSpPr>
          <p:cNvPr id="18735994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D381120-93CB-BF4D-9125-DC4781C9106A}" type="datetime1">
              <a:rPr lang="en-IN"/>
              <a:t/>
            </a:fld>
            <a:endParaRPr lang="en-US"/>
          </a:p>
        </p:txBody>
      </p:sp>
      <p:sp>
        <p:nvSpPr>
          <p:cNvPr id="5608799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8185249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398560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Abstract</a:t>
            </a:r>
            <a:endParaRPr lang="en-US" b="1"/>
          </a:p>
        </p:txBody>
      </p:sp>
      <p:sp>
        <p:nvSpPr>
          <p:cNvPr id="1216734573" name="Content Placeholder 8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100"/>
              <a:t>Demonstrates the application of Data Structures and Algorithms in a Pharma Inventory &amp; Billing System.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Uses algorithms such as Searching and Sorting for efficient data management.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Implements List ADT for structured data organization.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Utilizes Linked Lists including Singly, Doubly, and Circular Linked Lists.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Applies Stack for arithmetic expression evaluation and balancing symbols in billing.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Uses Queue, Circular Queue, and Dequeue to manage customer billing flow and order processing.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Implements Hashing for fast medicine lookup in the inventory.</a:t>
            </a: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Uses Priority Queue (Binary Heap) to handle near-expiry medicines efficiently.</a:t>
            </a:r>
            <a:endParaRPr lang="en-US" sz="1100"/>
          </a:p>
        </p:txBody>
      </p:sp>
      <p:sp>
        <p:nvSpPr>
          <p:cNvPr id="18038913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3942566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7113047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  <p:sp>
        <p:nvSpPr>
          <p:cNvPr id="444649680" name="Text Box 1"/>
          <p:cNvSpPr txBox="1"/>
          <p:nvPr/>
        </p:nvSpPr>
        <p:spPr bwMode="auto">
          <a:xfrm>
            <a:off x="680085" y="180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996677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Existing System </a:t>
            </a:r>
            <a:endParaRPr lang="en-US" b="1"/>
          </a:p>
        </p:txBody>
      </p:sp>
      <p:sp>
        <p:nvSpPr>
          <p:cNvPr id="679025930" name="Content Placeholder 8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60000"/>
          </a:bodyPr>
          <a:lstStyle/>
          <a:p>
            <a:pPr marL="117475" lvl="1" indent="0" algn="just">
              <a:buNone/>
              <a:defRPr/>
            </a:pPr>
            <a:r>
              <a:rPr lang="en-US"/>
              <a:t>Most medical stores use manual record keeping for inventory and billing.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Medicine stock details are maintained in registers or basic spreadsheets.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Tracking expiry dates manually is difficult and time-consuming.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Searching for medicine details takes more time due to lack of automated systems.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Billing calculations are done manually, which may lead to errors.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No efficient system to prioritize near-expiry medicines.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Difficult to manage large amounts of medicine data.</a:t>
            </a:r>
            <a:endParaRPr lang="en-US"/>
          </a:p>
          <a:p>
            <a:pPr marL="117475" lvl="1" indent="0" algn="just">
              <a:buNone/>
              <a:defRPr/>
            </a:pPr>
            <a:endParaRPr lang="en-US"/>
          </a:p>
          <a:p>
            <a:pPr marL="117475" lvl="1" indent="0" algn="just">
              <a:buNone/>
              <a:defRPr/>
            </a:pPr>
            <a:r>
              <a:rPr lang="en-US"/>
              <a:t>Lack of efficient searching and sorting mechanisms.</a:t>
            </a:r>
            <a:endParaRPr lang="en-US"/>
          </a:p>
        </p:txBody>
      </p:sp>
      <p:sp>
        <p:nvSpPr>
          <p:cNvPr id="4169369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2CB9F02-6AB8-A348-9013-8FCBB8174821}" type="datetime1">
              <a:rPr lang="en-IN"/>
              <a:t/>
            </a:fld>
            <a:endParaRPr lang="en-US"/>
          </a:p>
        </p:txBody>
      </p:sp>
      <p:sp>
        <p:nvSpPr>
          <p:cNvPr id="10367176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3323093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221877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Proposed System</a:t>
            </a:r>
            <a:endParaRPr lang="en-US" b="1"/>
          </a:p>
        </p:txBody>
      </p:sp>
      <p:sp>
        <p:nvSpPr>
          <p:cNvPr id="1489342411" name="Content Placeholder 8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50000"/>
          </a:bodyPr>
          <a:lstStyle/>
          <a:p>
            <a:pPr marL="0" indent="0">
              <a:buNone/>
              <a:defRPr/>
            </a:pPr>
            <a:r>
              <a:rPr lang="en-US"/>
              <a:t>Develop an automated Pharma Inventory &amp; Billing System using Data Structures and Algorithms.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Maintain digital records of medicines, stock, and expiry dates for easy management.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Use searching algorithms to quickly find medicine details.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Apply sorting algorithms to organize medicines by price and expiry date.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Implement Linked Lists for efficient storage and management of medicine data.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Use Stacks for expression evaluation and billing calculations.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Apply Queues and Circular Queues to manage customer billing flow.</a:t>
            </a:r>
            <a:endParaRPr lang="en-US"/>
          </a:p>
        </p:txBody>
      </p:sp>
      <p:sp>
        <p:nvSpPr>
          <p:cNvPr id="8923546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399815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3122683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35475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System Architecture</a:t>
            </a:r>
            <a:endParaRPr lang="en-US" b="1"/>
          </a:p>
        </p:txBody>
      </p:sp>
      <p:sp>
        <p:nvSpPr>
          <p:cNvPr id="1125049654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600"/>
              <a:t>The system is designed with multiple modules to manage pharmacy inventory and billing efficiently.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/>
              <a:t>User Interface Module allows the user to enter medicine details, billing information, and search queries.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/>
              <a:t>Inventory Management Module stores and updates medicine stock, price, and expiry date details.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/>
              <a:t>Data Structures Module implements structures like Linked Lists, Stacks, Queues, Hash Tables, and Priority Queues for efficient data handling.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/>
              <a:t>Searching Module retrieves medicine information quickly using efficient searching algorithms.</a:t>
            </a:r>
            <a:endParaRPr lang="en-US" sz="1600"/>
          </a:p>
          <a:p>
            <a:pPr marL="0" indent="0">
              <a:buNone/>
              <a:defRPr/>
            </a:pPr>
            <a:endParaRPr lang="en-US" sz="1600"/>
          </a:p>
          <a:p>
            <a:pPr marL="0" indent="0">
              <a:buNone/>
              <a:defRPr/>
            </a:pPr>
            <a:r>
              <a:rPr lang="en-US" sz="1600"/>
              <a:t>Sorting Module organizes medicines based on price, expiry date, or name.</a:t>
            </a:r>
            <a:endParaRPr lang="en-US" sz="1600"/>
          </a:p>
        </p:txBody>
      </p:sp>
      <p:sp>
        <p:nvSpPr>
          <p:cNvPr id="11050023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9829386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8233729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861713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Project Modules</a:t>
            </a:r>
            <a:endParaRPr lang="en-US" b="1"/>
          </a:p>
        </p:txBody>
      </p:sp>
      <p:sp>
        <p:nvSpPr>
          <p:cNvPr id="352283937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</p:spPr>
        <p:txBody>
          <a:bodyPr>
            <a:normAutofit fontScale="50000"/>
          </a:bodyPr>
          <a:lstStyle/>
          <a:p>
            <a:pPr marL="0" indent="0">
              <a:buNone/>
              <a:defRPr/>
            </a:pPr>
            <a:r>
              <a:rPr lang="en-US"/>
              <a:t>User Interface Module – Allows users to interact with the system, enter medicine details, search medicines, and generate bills.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Inventory Management Module – Manages medicine stock, price, quantity, and expiry date information.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Searching Module – Uses searching algorithms to quickly find medicine details by ID or name.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Sorting Module – Organizes medicines based on price or expiry date using sorting algorithms.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Billing Module – Generates customer bills and performs price calculations for purchased medicines.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Stack Module – Used for expression evaluation and balancing symbols during billing operations.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Queue Module – Manages customer billing flow using Queue and Circular Queue.</a:t>
            </a:r>
            <a:endParaRPr lang="en-US"/>
          </a:p>
        </p:txBody>
      </p:sp>
      <p:sp>
        <p:nvSpPr>
          <p:cNvPr id="1553533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8360189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5589763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625333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Objectives</a:t>
            </a:r>
            <a:endParaRPr lang="en-US" b="1"/>
          </a:p>
        </p:txBody>
      </p:sp>
      <p:sp>
        <p:nvSpPr>
          <p:cNvPr id="1964809610" name="Content Placeholder 8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50000"/>
          </a:bodyPr>
          <a:lstStyle/>
          <a:p>
            <a:pPr marL="0" indent="0">
              <a:buNone/>
              <a:defRPr/>
            </a:pPr>
            <a:r>
              <a:rPr lang="en-US"/>
              <a:t>To design and develop a Pharma Inventory &amp; Billing System using Data Structures and Algorithms.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efficiently manage medicine stock, price, and expiry dates.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implement searching algorithms for quick retrieval of medicine information.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apply sorting algorithms to organize medicines by price and expiry date.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use Linked Lists for efficient storage and management of medicine records.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implement Stacks and Queues for handling billing operations and customer flow.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To use Hashing techniques for fast lookup of medicines in the inventory.</a:t>
            </a:r>
            <a:endParaRPr lang="en-US"/>
          </a:p>
        </p:txBody>
      </p:sp>
      <p:sp>
        <p:nvSpPr>
          <p:cNvPr id="2538115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12137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8583049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396428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Co’s Attainments - DSA</a:t>
            </a:r>
            <a:endParaRPr lang="en-US" b="1"/>
          </a:p>
        </p:txBody>
      </p:sp>
      <p:sp>
        <p:nvSpPr>
          <p:cNvPr id="1865856925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12528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800"/>
              <a:t>CO-1: Implemented Searching algorithms using Linear Search to find medicines by ID and Sorting concepts for organizing medicine data like price and expiry date.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CO-2: Designed and implemented Abstract Data Types using Linked Lists. A Singly Linked List is used to store and manage medicine inventory (add and display medicines).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CO-3: Applied Stack concepts for arithmetic expression evaluation in billing operations and Queue concepts for managing customer billing flow.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</p:txBody>
      </p:sp>
      <p:sp>
        <p:nvSpPr>
          <p:cNvPr id="19172375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7119540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9537678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4453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Co’s Attainments - DSA</a:t>
            </a:r>
            <a:endParaRPr lang="en-US" b="1"/>
          </a:p>
        </p:txBody>
      </p:sp>
      <p:sp>
        <p:nvSpPr>
          <p:cNvPr id="536211673" name="Content Placeholder 8"/>
          <p:cNvSpPr>
            <a:spLocks noGrp="1"/>
          </p:cNvSpPr>
          <p:nvPr>
            <p:ph idx="1"/>
          </p:nvPr>
        </p:nvSpPr>
        <p:spPr bwMode="auto">
          <a:xfrm>
            <a:off x="721995" y="13360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/>
              <a:t>CO-4: Implemented Priority Queue (Binary Heap) to efficiently process near-expiry medicines first based on expiry days.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CO-5: Developed a practical application of Data Structures for managing pharmacy inventory, medicine details, and billing operations.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CO-6: Built a Java-based application using Data Structures concepts, demonstrating real-world implementation of algorithms and data structures in a pharmacy management system.</a:t>
            </a:r>
            <a:endParaRPr lang="en-US"/>
          </a:p>
        </p:txBody>
      </p:sp>
      <p:sp>
        <p:nvSpPr>
          <p:cNvPr id="16809264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9709689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7172944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0488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Screenshots for FWD &amp; DSA</a:t>
            </a:r>
            <a:endParaRPr lang="en-US"/>
          </a:p>
        </p:txBody>
      </p:sp>
      <p:sp>
        <p:nvSpPr>
          <p:cNvPr id="13133979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5272DB-0103-AF4C-A22D-07421EC406AD}" type="datetime1">
              <a:rPr lang="en-IN"/>
              <a:t/>
            </a:fld>
            <a:endParaRPr lang="en-US"/>
          </a:p>
        </p:txBody>
      </p:sp>
      <p:sp>
        <p:nvSpPr>
          <p:cNvPr id="10737993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8091720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  <p:pic>
        <p:nvPicPr>
          <p:cNvPr id="998235873" name="Content Placeholder 9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396240" y="1877060"/>
            <a:ext cx="5250815" cy="2354580"/>
          </a:xfrm>
          <a:prstGeom prst="rect">
            <a:avLst/>
          </a:prstGeom>
        </p:spPr>
      </p:pic>
      <p:pic>
        <p:nvPicPr>
          <p:cNvPr id="705884025" name="Picture 10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04635" y="3611880"/>
            <a:ext cx="4422140" cy="1868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717320" name="Title 7"/>
          <p:cNvSpPr>
            <a:spLocks noGrp="1"/>
          </p:cNvSpPr>
          <p:nvPr>
            <p:ph type="title"/>
          </p:nvPr>
        </p:nvSpPr>
        <p:spPr bwMode="auto">
          <a:xfrm>
            <a:off x="1180618" y="365125"/>
            <a:ext cx="10173182" cy="1128009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Conclusion</a:t>
            </a:r>
            <a:endParaRPr lang="en-US" b="1"/>
          </a:p>
        </p:txBody>
      </p:sp>
      <p:sp>
        <p:nvSpPr>
          <p:cNvPr id="1204649373" name="Content Placeholder 8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800"/>
              <a:t>The Pharma Inventory &amp; Billing System demonstrates the practical application of Data Structures and Algorithms in a real-world pharmacy scenario.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The system efficiently manages medicine inventory, expiry dates, and billing operations.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Different data structures like Linked Lists, Stacks, Queues, Hash Tables, and Priority Queues improve data management and processing speed.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Searching and sorting algorithms help retrieve and organize medicine data quickly.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The implementation improves accuracy, efficiency, and speed compared to manual systems.</a:t>
            </a:r>
            <a:endParaRPr lang="en-US" sz="1800"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Overall, the project shows how Data Structures can be used to develop efficient and scalable applications.</a:t>
            </a:r>
            <a:endParaRPr lang="en-US" sz="1800"/>
          </a:p>
        </p:txBody>
      </p:sp>
      <p:sp>
        <p:nvSpPr>
          <p:cNvPr id="15766758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A639D7-EAE1-7C4A-AC63-30DD6B16DE20}" type="datetime1">
              <a:rPr lang="en-IN"/>
              <a:t/>
            </a:fld>
            <a:endParaRPr lang="en-US"/>
          </a:p>
        </p:txBody>
      </p:sp>
      <p:sp>
        <p:nvSpPr>
          <p:cNvPr id="19440471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2294229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238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65118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5272DB-0103-AF4C-A22D-07421EC406AD}" type="datetime1">
              <a:rPr lang="en-IN"/>
              <a:t/>
            </a:fld>
            <a:endParaRPr lang="en-US"/>
          </a:p>
        </p:txBody>
      </p:sp>
      <p:sp>
        <p:nvSpPr>
          <p:cNvPr id="1567541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7350072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  <p:sp>
        <p:nvSpPr>
          <p:cNvPr id="1283826100" name="Content Placeholder 2"/>
          <p:cNvSpPr/>
          <p:nvPr>
            <p:ph idx="1"/>
          </p:nvPr>
        </p:nvSpPr>
        <p:spPr bwMode="auto"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372397" name="Content Placeholder 8"/>
          <p:cNvSpPr>
            <a:spLocks noGrp="1"/>
          </p:cNvSpPr>
          <p:nvPr>
            <p:ph idx="1"/>
          </p:nvPr>
        </p:nvSpPr>
        <p:spPr bwMode="auto"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IN"/>
          </a:p>
          <a:p>
            <a:pPr marL="0" indent="0" algn="ctr">
              <a:buNone/>
              <a:defRPr/>
            </a:pPr>
            <a:endParaRPr lang="en-IN" sz="4400"/>
          </a:p>
          <a:p>
            <a:pPr marL="0" indent="0" algn="ctr">
              <a:buNone/>
              <a:defRPr/>
            </a:pPr>
            <a:endParaRPr lang="en-IN" sz="4400"/>
          </a:p>
          <a:p>
            <a:pPr marL="0" indent="0" algn="ctr">
              <a:buNone/>
              <a:defRPr/>
            </a:pPr>
            <a:r>
              <a:rPr lang="en-IN" sz="4400"/>
              <a:t>THANK YOU</a:t>
            </a:r>
            <a:endParaRPr lang="en-IN" sz="4400"/>
          </a:p>
        </p:txBody>
      </p:sp>
      <p:sp>
        <p:nvSpPr>
          <p:cNvPr id="17833101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AAD6276-EBF6-BB4A-A6C6-114A8D55B891}" type="datetime1">
              <a:rPr lang="en-IN"/>
              <a:t/>
            </a:fld>
            <a:endParaRPr lang="en-US"/>
          </a:p>
        </p:txBody>
      </p:sp>
      <p:sp>
        <p:nvSpPr>
          <p:cNvPr id="8551767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173030211           Department of CSE</a:t>
            </a:r>
            <a:endParaRPr lang="en-US"/>
          </a:p>
        </p:txBody>
      </p:sp>
      <p:sp>
        <p:nvSpPr>
          <p:cNvPr id="16215238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61B71F-4B40-8942-BB88-E0F5C0B46E1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/>
  <cp:revision>60</cp:revision>
  <dcterms:created xsi:type="dcterms:W3CDTF">2022-05-20T10:20:00Z</dcterms:created>
  <dcterms:modified xsi:type="dcterms:W3CDTF">2026-03-12T08:00:12Z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EC8CE74C719B40A0AB339F5A798191EA_13</vt:lpwstr>
  </property>
  <property fmtid="{D5CDD505-2E9C-101B-9397-08002B2CF9AE}" pid="3" name="KSOProductBuildVer">
    <vt:lpwstr>1033-12.2.0.23196</vt:lpwstr>
  </property>
</Properties>
</file>